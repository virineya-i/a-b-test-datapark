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5794"/>
  </p:normalViewPr>
  <p:slideViewPr>
    <p:cSldViewPr snapToGrid="0">
      <p:cViewPr>
        <p:scale>
          <a:sx n="110" d="100"/>
          <a:sy n="110" d="100"/>
        </p:scale>
        <p:origin x="6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584C8F-AA00-F182-FEFD-D76205FB0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5ABC7-FB7F-97CB-4C74-5554E7470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955E9-2A33-6F75-74B3-0F6F9AF78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B1096-850E-563A-66CA-A19824D9B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E327-3601-8039-AC9A-22C2D1A8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C0DEB-EF2A-4692-B5A2-F8D73CE78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6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2377-3870-49B8-4D36-D1DFAA5C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CDD9-55E8-DE4A-1A52-64B64CF46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8CEDA-00A5-6AA4-7B3B-D8EF5D4C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6292E-42AA-ADB8-BD54-7EC70160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A3111-9310-9C82-CB67-403097B4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3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6D0A-CAEE-5BCB-5902-6DA12D6C6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94C17-4E84-0DBE-3ACD-679C78CC6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5E8E-518C-3EC2-BE51-1195F411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3A4F5-E706-0E14-D7A6-C1F97CDA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AA048-E342-F326-5A92-74495D57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4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B861-DD74-E068-380C-4E525283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B95F8-6DF9-8A67-4530-813FA538C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E3B49-D3A1-15C6-CE8F-DC8457B0E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2F4DD-4F72-5316-1AEF-FECD3293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B84C-29BE-FC55-5C4E-C574B308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F5A04-4BE4-6314-7733-E7AB3A7E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7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81C5-953D-AD9D-8364-78E74066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5083-C293-DD77-2C5A-087AF5A17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E4CA1-B67F-7AFD-40FC-93E406DD7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3C26E-427A-F618-21B9-CF924F0D8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1B85B-0B5F-5101-F808-8CA939119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65056-9F78-65B2-6E12-D9FA7F3A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92F654-F941-1D93-4CD6-44BD72B1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363D3-CFE9-4D4E-2A8C-D637E3C3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9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CE36-278D-2E32-ED0B-AAF68F27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941E4-0046-8815-64DC-1C0465DB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12720-6FC7-00DC-DF04-7110CC72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377A8-145E-E927-1C17-762D1DDC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9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4A1F0-9BC0-511C-9DE7-90469273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FF93F-12BC-E2E7-365A-9C85850B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BB183-41F0-67C7-8CF7-90C45862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F5FC-B48B-1934-F569-405D8D44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7E99C-D95E-2346-F902-7F920A369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15622-67DD-5ED2-8F0A-330121928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C1FDB-D8FF-97A7-1D8C-92881936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AECC1-141F-D29F-B379-1BCEC4EB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CC99-2B79-927C-0092-2DED48A3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0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642D-CE29-5DF2-759A-80327842F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BF404-A743-C230-2A2A-1D23DACC3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9CADC-BB75-64F5-3682-1E787467D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1C835-9C81-9989-DE98-63BCD21B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02E7D-6F4F-B4F6-42DA-56011BB56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767ED-F6ED-70FC-F3A9-7AA8A947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2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B698-F106-2FF5-07D9-E1E51984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CEB62-1055-0BEB-66A9-98F1AC9B7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1B79F-5551-A32A-5004-7D50789B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D87F-13C6-9C50-0845-DFF123D7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CFA19-8DFB-92D4-A82A-6B0AFB72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0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FF2CF-12ED-929F-3762-370B837FC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1B375-4A52-456D-0C26-5B9C4F715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0E9BE-576D-C383-2503-3491714E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859E-DD7F-81E2-4F3D-F95C8EAEC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E7C4-B35E-62D8-5423-0128C302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6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463F58-6E4D-05CC-7ADE-DE0A938857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3B43-8F6A-F574-BA5B-A64D324AA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47B8-B279-4448-A7B8-BA6111C58AA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72B8B-D353-F05E-ACDB-CFC71E859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CA47-9886-1DE0-CDBD-93B8C3825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3FD05-4E34-D446-8D81-7675B9DE2BB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EB79-E75C-E249-72A6-61B3D38CDDCC}"/>
              </a:ext>
            </a:extLst>
          </p:cNvPr>
          <p:cNvSpPr/>
          <p:nvPr userDrawn="1"/>
        </p:nvSpPr>
        <p:spPr>
          <a:xfrm rot="14175815">
            <a:off x="2667014" y="322590"/>
            <a:ext cx="1983179" cy="731278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F1B31-4511-7986-0DF4-BEC9D85CF6D3}"/>
              </a:ext>
            </a:extLst>
          </p:cNvPr>
          <p:cNvSpPr/>
          <p:nvPr userDrawn="1"/>
        </p:nvSpPr>
        <p:spPr>
          <a:xfrm rot="14175815">
            <a:off x="2895615" y="370089"/>
            <a:ext cx="1983179" cy="731278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299A27-D294-A487-84C3-1577A755BAB9}"/>
              </a:ext>
            </a:extLst>
          </p:cNvPr>
          <p:cNvSpPr/>
          <p:nvPr userDrawn="1"/>
        </p:nvSpPr>
        <p:spPr>
          <a:xfrm rot="16200000">
            <a:off x="3357994" y="738574"/>
            <a:ext cx="5008625" cy="7182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CE79AE-5759-4BE9-E72C-C84C5FF0DFFD}"/>
              </a:ext>
            </a:extLst>
          </p:cNvPr>
          <p:cNvSpPr/>
          <p:nvPr userDrawn="1"/>
        </p:nvSpPr>
        <p:spPr>
          <a:xfrm rot="16200000">
            <a:off x="5915801" y="1377961"/>
            <a:ext cx="5008625" cy="360903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AA048-7297-8097-77D8-28FF5F28E445}"/>
              </a:ext>
            </a:extLst>
          </p:cNvPr>
          <p:cNvSpPr/>
          <p:nvPr userDrawn="1"/>
        </p:nvSpPr>
        <p:spPr>
          <a:xfrm rot="14175815">
            <a:off x="1838119" y="-373020"/>
            <a:ext cx="1983179" cy="549394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5CE42-11F0-CF0C-79F2-17EF94C0B596}"/>
              </a:ext>
            </a:extLst>
          </p:cNvPr>
          <p:cNvSpPr/>
          <p:nvPr userDrawn="1"/>
        </p:nvSpPr>
        <p:spPr>
          <a:xfrm rot="16200000">
            <a:off x="7080489" y="1722740"/>
            <a:ext cx="6829694" cy="33933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FB2F1-9E29-6075-CB5B-12F5DA9E1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7823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6F806-FD6D-5973-0441-A34E77439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5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A2AD-4BB6-C314-FD9A-3F07FD760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5227" y="2333100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>
                <a:latin typeface="Corbel" panose="020B0503020204020204" pitchFamily="34" charset="0"/>
                <a:cs typeface="Times New Roman" panose="02020603050405020304" pitchFamily="18" charset="0"/>
              </a:rPr>
              <a:t>А/В-тест:</a:t>
            </a:r>
            <a:br>
              <a:rPr lang="ru-RU" b="1" dirty="0">
                <a:solidFill>
                  <a:schemeClr val="bg2">
                    <a:lumMod val="25000"/>
                  </a:schemeClr>
                </a:solidFill>
                <a:latin typeface="Corbel" panose="020B0503020204020204" pitchFamily="34" charset="0"/>
              </a:rPr>
            </a:br>
            <a:r>
              <a:rPr lang="en-US" b="1" dirty="0" err="1">
                <a:solidFill>
                  <a:schemeClr val="bg2">
                    <a:lumMod val="25000"/>
                  </a:schemeClr>
                </a:solidFill>
                <a:latin typeface="Corbel" panose="020B0503020204020204" pitchFamily="34" charset="0"/>
              </a:rPr>
              <a:t>Datapark</a:t>
            </a:r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Corbel" panose="020B0503020204020204" pitchFamily="34" charset="0"/>
              </a:rPr>
              <a:t> конкурс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2B261-6A3F-3E8F-E2AB-928C8EDB1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7051"/>
            <a:ext cx="9144000" cy="1655762"/>
          </a:xfrm>
        </p:spPr>
        <p:txBody>
          <a:bodyPr/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37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18455-3DD5-50A4-2C0B-E070BE18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681037"/>
            <a:ext cx="7315200" cy="782335"/>
          </a:xfrm>
        </p:spPr>
        <p:txBody>
          <a:bodyPr/>
          <a:lstStyle/>
          <a:p>
            <a:r>
              <a:rPr lang="ru-RU" dirty="0"/>
              <a:t>Дизайн эксперимента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49E36-62BE-FAED-101D-3811E7186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Заказы пользователей в течение недели случайным образом разделили на две равные группы: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Контрольная группа - радиус поиска 3 км.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Тестовая группа - радиус поиска 5 км.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увидеть полную картину выберем для эксперимента такой набор метрик: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метрика — конверсии из _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order_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_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assign_.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Барьерная метрика — конверсии из _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assign_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_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Вспомогательная метрика 1 — среднее времени назначения водителя на заказ.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Вспомогательная метрика 2 — конверсия из _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order_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_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trip_.</a:t>
            </a:r>
          </a:p>
          <a:p>
            <a:pPr algn="just"/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Ожидалось, что ключевая и вспомогательная метрика 2 покажут рост, барьерная метрика и вспомогательная метрика 1 не упадут.</a:t>
            </a:r>
          </a:p>
        </p:txBody>
      </p:sp>
    </p:spTree>
    <p:extLst>
      <p:ext uri="{BB962C8B-B14F-4D97-AF65-F5344CB8AC3E}">
        <p14:creationId xmlns:p14="http://schemas.microsoft.com/office/powerpoint/2010/main" val="104611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6164E-5DE1-686B-7DF6-CC69F899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358" y="375635"/>
            <a:ext cx="7717221" cy="782335"/>
          </a:xfrm>
        </p:spPr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Сплит-система и отложенные заказы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70079F-2E99-BC7F-1298-35C4C25CD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17" y="1022300"/>
            <a:ext cx="10515600" cy="3938260"/>
          </a:xfrm>
        </p:spPr>
        <p:txBody>
          <a:bodyPr>
            <a:normAutofit/>
          </a:bodyPr>
          <a:lstStyle/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Сплит-система А/В-теста работает корректно, разбиение заказов в данном тесте 54/46, однако в тестовой группе практически в 300 раз больше отложенных заказов, что может отрицательно сказаться на достоверности результатов теста, так как клиенты с отложенным заказом будут менее чувствительны к более долгому ожиданию машины.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распределения времени от оформления заказа до момента назначения водителя на заказ, определено, что заказы с временем от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50 минут относятся к отложенным заказам. Без поправки на отложенные заказы временные значения в тестовой группе сильно завышены по сравнению с контрольной группой.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69DBEB-CB38-A061-6A62-9F861841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161" y="4184309"/>
            <a:ext cx="3384136" cy="10988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1CC05E-CCCC-DB0E-A142-EF23DFF6E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03" y="3865217"/>
            <a:ext cx="3148608" cy="29804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8B1AC7-7634-5A19-0EC0-287E6BDE8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215" y="5679157"/>
            <a:ext cx="3352082" cy="106477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6F4723-E6FE-110D-8A13-CCBAFB52D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311" y="3884600"/>
            <a:ext cx="4884703" cy="29804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1C97E4-4871-FE1B-E847-3017DED4DF44}"/>
              </a:ext>
            </a:extLst>
          </p:cNvPr>
          <p:cNvSpPr txBox="1"/>
          <p:nvPr/>
        </p:nvSpPr>
        <p:spPr>
          <a:xfrm>
            <a:off x="8955475" y="3884600"/>
            <a:ext cx="6105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время до корректировки</a:t>
            </a:r>
            <a:endParaRPr lang="ru-RU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C7BBF6-376D-6771-A7E6-EF8361958CA4}"/>
              </a:ext>
            </a:extLst>
          </p:cNvPr>
          <p:cNvSpPr txBox="1"/>
          <p:nvPr/>
        </p:nvSpPr>
        <p:spPr>
          <a:xfrm>
            <a:off x="8760106" y="5348001"/>
            <a:ext cx="7442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время с учетом корректировки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7837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BC132-1822-57AF-9B16-DD50E2D9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809" y="693438"/>
            <a:ext cx="7315200" cy="78233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А/В-тестирования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84F35E-74EB-A1D8-289D-131F48B25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771" y="1917049"/>
            <a:ext cx="6585030" cy="5079197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Абсолютное изменение значения конверсии из оформления заказа в назначение водителя на поездку в тестовой группе по сравнению с контрольной  5.16, относительное  6.84%, и это изменение статистически значимо, однако, конверсия из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тестовой группе снизилась на 12.25%, по сравнению с контрольной группой, что говорит о том, что более дальняя подача машины и увеличенное время ожидания увеличивают число отмен со стороны клиентов после назначения водителя.   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времени назначения водителя на заказ не изменяется, при этом конверсии из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тестовой группе снизилась на 7.99% по сравнению с контрольной группой.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F3DA2B-579A-603E-5549-F74FAB61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946554" cy="29515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7800FB-4C4E-C518-552F-20F7C14F5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8078"/>
            <a:ext cx="3944983" cy="29156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9DBCE0-2613-7DFB-D637-D7EFB31DC3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781"/>
          <a:stretch/>
        </p:blipFill>
        <p:spPr>
          <a:xfrm>
            <a:off x="0" y="2844479"/>
            <a:ext cx="3944983" cy="118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7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BD517-670B-D76D-6DCF-2609AA61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541" y="1186927"/>
            <a:ext cx="7186914" cy="78233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35B00D-B38A-1925-4909-01520FBB4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сплитовании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стоит учитывать отложенные заказы и более равномерно распределять их по группам, во избежание искажения результатов. За качестве границы стоит ориентироваться на величину в 50 минут.        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результатам А/В-теста наблюдается статически значимое улучшение конверсии из оформления заказа в назначение водителя на поездку в тестовой группе, но уменьшается конверсия из </a:t>
            </a:r>
            <a:r>
              <a:rPr lang="e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из </a:t>
            </a:r>
            <a:r>
              <a:rPr lang="e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запуск расширения радиуса поиска может привести к ухудшению пользовательского опыта и снижению общей выручки.</a:t>
            </a:r>
          </a:p>
        </p:txBody>
      </p:sp>
    </p:spTree>
    <p:extLst>
      <p:ext uri="{BB962C8B-B14F-4D97-AF65-F5344CB8AC3E}">
        <p14:creationId xmlns:p14="http://schemas.microsoft.com/office/powerpoint/2010/main" val="101351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422</Words>
  <Application>Microsoft Macintosh PowerPoint</Application>
  <PresentationFormat>Широкоэкранный</PresentationFormat>
  <Paragraphs>27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Corbel</vt:lpstr>
      <vt:lpstr>Times New Roman</vt:lpstr>
      <vt:lpstr>Office Theme</vt:lpstr>
      <vt:lpstr>А/В-тест: Datapark конкурс</vt:lpstr>
      <vt:lpstr>Дизайн эксперимента</vt:lpstr>
      <vt:lpstr>Сплит-система и отложенные заказы</vt:lpstr>
      <vt:lpstr>Результаты А/В-тестирования</vt:lpstr>
      <vt:lpstr>Рекомендации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 PRESENTATION</dc:title>
  <dc:creator>Microsoft Office User</dc:creator>
  <cp:lastModifiedBy>Iliashchenko Virineya</cp:lastModifiedBy>
  <cp:revision>7</cp:revision>
  <dcterms:created xsi:type="dcterms:W3CDTF">2025-10-30T09:00:40Z</dcterms:created>
  <dcterms:modified xsi:type="dcterms:W3CDTF">2025-12-01T20:53:52Z</dcterms:modified>
</cp:coreProperties>
</file>